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72aeca87ac43db" /><Relationship Type="http://schemas.openxmlformats.org/officeDocument/2006/relationships/extended-properties" Target="/docProps/app.xml" Id="Rfa0863d31aaa4cba" /><Relationship Type="http://schemas.openxmlformats.org/officeDocument/2006/relationships/officeDocument" Target="/ppt/presentation.xml" Id="Rf0800155fcc849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1c6cac01e14641"/>
  </p:sldMasterIdLst>
  <p:notesMasterIdLst>
    <p:notesMasterId xmlns:r="http://schemas.openxmlformats.org/officeDocument/2006/relationships" r:id="R4c84af34d9c94de4"/>
  </p:notesMasterIdLst>
  <p:sldIdLst>
    <p:sldId xmlns:r="http://schemas.openxmlformats.org/officeDocument/2006/relationships" id="256" r:id="R9b5ab83622c64e7f"/>
    <p:sldId xmlns:r="http://schemas.openxmlformats.org/officeDocument/2006/relationships" id="257" r:id="R4f7732810ad74527"/>
    <p:sldId xmlns:r="http://schemas.openxmlformats.org/officeDocument/2006/relationships" id="258" r:id="R05c279bed3be4f60"/>
    <p:sldId xmlns:r="http://schemas.openxmlformats.org/officeDocument/2006/relationships" id="259" r:id="R8be67ed60e194d27"/>
    <p:sldId xmlns:r="http://schemas.openxmlformats.org/officeDocument/2006/relationships" id="260" r:id="Rd5bf2ca0e5e547e8"/>
    <p:sldId xmlns:r="http://schemas.openxmlformats.org/officeDocument/2006/relationships" id="261" r:id="R8a0628b996884c1f"/>
    <p:sldId xmlns:r="http://schemas.openxmlformats.org/officeDocument/2006/relationships" id="262" r:id="Rdd90bec299994213"/>
    <p:sldId xmlns:r="http://schemas.openxmlformats.org/officeDocument/2006/relationships" id="263" r:id="R409ba6b8bd5140ef"/>
    <p:sldId xmlns:r="http://schemas.openxmlformats.org/officeDocument/2006/relationships" id="264" r:id="R1c304bd477a7449e"/>
    <p:sldId xmlns:r="http://schemas.openxmlformats.org/officeDocument/2006/relationships" id="265" r:id="Rd4110cc7ee9c46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6d368173514300" /><Relationship Type="http://schemas.openxmlformats.org/officeDocument/2006/relationships/slideMaster" Target="/ppt/slideMasters/slideMaster1.xml" Id="R3d1c6cac01e14641" /><Relationship Type="http://schemas.openxmlformats.org/officeDocument/2006/relationships/notesMaster" Target="/ppt/notesMasters/notesMaster1.xml" Id="R4c84af34d9c94de4" /><Relationship Type="http://schemas.openxmlformats.org/officeDocument/2006/relationships/presProps" Target="/ppt/presProps.xml" Id="R61223867572a43b7" /><Relationship Type="http://schemas.openxmlformats.org/officeDocument/2006/relationships/tableStyles" Target="/ppt/tableStyles.xml" Id="Rf1fba9b5d8224b28" /><Relationship Type="http://schemas.openxmlformats.org/officeDocument/2006/relationships/slide" Target="/ppt/slides/slide1.xml" Id="R9b5ab83622c64e7f" /><Relationship Type="http://schemas.openxmlformats.org/officeDocument/2006/relationships/slide" Target="/ppt/slides/slide2.xml" Id="R4f7732810ad74527" /><Relationship Type="http://schemas.openxmlformats.org/officeDocument/2006/relationships/slide" Target="/ppt/slides/slide3.xml" Id="R05c279bed3be4f60" /><Relationship Type="http://schemas.openxmlformats.org/officeDocument/2006/relationships/slide" Target="/ppt/slides/slide4.xml" Id="R8be67ed60e194d27" /><Relationship Type="http://schemas.openxmlformats.org/officeDocument/2006/relationships/slide" Target="/ppt/slides/slide5.xml" Id="Rd5bf2ca0e5e547e8" /><Relationship Type="http://schemas.openxmlformats.org/officeDocument/2006/relationships/slide" Target="/ppt/slides/slide6.xml" Id="R8a0628b996884c1f" /><Relationship Type="http://schemas.openxmlformats.org/officeDocument/2006/relationships/slide" Target="/ppt/slides/slide7.xml" Id="Rdd90bec299994213" /><Relationship Type="http://schemas.openxmlformats.org/officeDocument/2006/relationships/slide" Target="/ppt/slides/slide8.xml" Id="R409ba6b8bd5140ef" /><Relationship Type="http://schemas.openxmlformats.org/officeDocument/2006/relationships/slide" Target="/ppt/slides/slide9.xml" Id="R1c304bd477a7449e" /><Relationship Type="http://schemas.openxmlformats.org/officeDocument/2006/relationships/slide" Target="/ppt/slides/slide10.xml" Id="Rd4110cc7ee9c46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c4a73969ca4f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7809981cd540a4" /><Relationship Type="http://schemas.openxmlformats.org/officeDocument/2006/relationships/notesMaster" Target="/ppt/notesMasters/notesMaster1.xml" Id="Ra3f795a3bcef4e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5a0605e3834334" /><Relationship Type="http://schemas.openxmlformats.org/officeDocument/2006/relationships/notesMaster" Target="/ppt/notesMasters/notesMaster1.xml" Id="Ra148ca179fb64c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4300d4ff934c71" /><Relationship Type="http://schemas.openxmlformats.org/officeDocument/2006/relationships/notesMaster" Target="/ppt/notesMasters/notesMaster1.xml" Id="R480fd2459f514c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8add572ec642c5" /><Relationship Type="http://schemas.openxmlformats.org/officeDocument/2006/relationships/notesMaster" Target="/ppt/notesMasters/notesMaster1.xml" Id="R8cd0239f25474a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abfea2ba4c450c" /><Relationship Type="http://schemas.openxmlformats.org/officeDocument/2006/relationships/notesMaster" Target="/ppt/notesMasters/notesMaster1.xml" Id="R1767951ee7bd4e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bfe8a6288b4054" /><Relationship Type="http://schemas.openxmlformats.org/officeDocument/2006/relationships/notesMaster" Target="/ppt/notesMasters/notesMaster1.xml" Id="Rcefc0a90e7aa4c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3f622d80d74964" /><Relationship Type="http://schemas.openxmlformats.org/officeDocument/2006/relationships/notesMaster" Target="/ppt/notesMasters/notesMaster1.xml" Id="R027aabbe16b347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4021bb33df4748" /><Relationship Type="http://schemas.openxmlformats.org/officeDocument/2006/relationships/notesMaster" Target="/ppt/notesMasters/notesMaster1.xml" Id="R3da53452695241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ed858b9dbf4e83" /><Relationship Type="http://schemas.openxmlformats.org/officeDocument/2006/relationships/notesMaster" Target="/ppt/notesMasters/notesMaster1.xml" Id="R91a2d1efedff46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bc9813f1bc499e" /><Relationship Type="http://schemas.openxmlformats.org/officeDocument/2006/relationships/notesMaster" Target="/ppt/notesMasters/notesMaster1.xml" Id="R171b719283294b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DELL-x-NVIDIA-Hackathon repository, main branch at commit 32c5b2b.</a:t>
            </a:r>
          </a:p>
          <a:p xmlns:a="http://schemas.openxmlformats.org/drawingml/2006/main">
            <a:r>
              <a:t>Cover visual generated for this deck; conceptual illustration, not a product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based on the project goal documented in CLAIMTRACE-PROJECT-PLAN-HERMES-SLACK.md and the implemented local-only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CONTRACT.md sections 3–4; skills/claimtrace/SKILL.md; labmate/verify.py.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CONTRACT.md; scripts/deploy-to-sandbox.sh; labmate_rag/api.py; labmate/store.py; runtime/README.md.</a:t>
            </a:r>
          </a:p>
          <a:p xmlns:a="http://schemas.openxmlformats.org/drawingml/2006/main">
            <a:r>
              <a:t>MongoDB and embedding generation run on the host. Hermes accesses retrieval through the restricted local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labmate_rag/ingest.py; labmate_rag/retrieval.py; labmate_rag/README.md.</a:t>
            </a:r>
          </a:p>
          <a:p xmlns:a="http://schemas.openxmlformats.org/drawingml/2006/main">
            <a:r>
              <a:t>The implementation explicitly marks OCR as out of scope for scanned pages with no extractable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labmate/cli.py; labmate/watcher.py; labmate/scheduler.py; labmate/meetings.py; runtime/scripts/apply-hermes-slack-config.sh.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CONTRACT.md section 4; skills/claimtrace/SKILL.md; labmate/verify.py; labmate/store.py.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labmate/watcher.py and labmate/scheduler.py.</a:t>
            </a:r>
          </a:p>
          <a:p xmlns:a="http://schemas.openxmlformats.org/drawingml/2006/main">
            <a:r>
              <a:t>Scheduler priorities shown are implemented constants: reverify 100, meeting_brief 90, verify_new 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CONTRACT.md notification contract; labmate/slack_intake.py; labmate/meetings.py; runtime/worker/slack_notify.py.</a:t>
            </a:r>
          </a:p>
          <a:p xmlns:a="http://schemas.openxmlformats.org/drawingml/2006/main">
            <a:r>
              <a:t>The Slack attachment caveat is explicit in labmate/slack_intake.py.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commit history through 32c5b2b; tests/smoke.sh; PROJECT-STATUS.md adjusted for features already merged into main.</a:t>
            </a:r>
          </a:p>
          <a:p xmlns:a="http://schemas.openxmlformats.org/drawingml/2006/main">
            <a:r>
              <a:t>The project status file is stale regarding the RAG merge; this slide reflects current 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bac11f04134a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ffe660c42e4980" /><Relationship Type="http://schemas.openxmlformats.org/officeDocument/2006/relationships/slideLayout" Target="/ppt/slideLayouts/slideLayout1.xml" Id="Ra0294f24aa4047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294f24aa4047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649202ddf4757" /><Relationship Type="http://schemas.openxmlformats.org/officeDocument/2006/relationships/image" Target="/ppt/media/image.png" Id="Ra404d8c11de84f20" /><Relationship Type="http://schemas.openxmlformats.org/officeDocument/2006/relationships/notesSlide" Target="/ppt/notesSlides/notesSlide1.xml" Id="Raccf7a5867a345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b565742e44627" /><Relationship Type="http://schemas.openxmlformats.org/officeDocument/2006/relationships/notesSlide" Target="/ppt/notesSlides/notesSlide2.xml" Id="R0686b539125e4b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e19bb7062488a" /><Relationship Type="http://schemas.openxmlformats.org/officeDocument/2006/relationships/notesSlide" Target="/ppt/notesSlides/notesSlide3.xml" Id="Ree18083531724d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498646f6f412a" /><Relationship Type="http://schemas.openxmlformats.org/officeDocument/2006/relationships/notesSlide" Target="/ppt/notesSlides/notesSlide4.xml" Id="Ra8e25ff6dd204c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ce0325bbc4887" /><Relationship Type="http://schemas.openxmlformats.org/officeDocument/2006/relationships/notesSlide" Target="/ppt/notesSlides/notesSlide5.xml" Id="R9b75a399e8a04f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71bf24a4944f2" /><Relationship Type="http://schemas.openxmlformats.org/officeDocument/2006/relationships/notesSlide" Target="/ppt/notesSlides/notesSlide6.xml" Id="R629d1d89067747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dcbfd54624fd2" /><Relationship Type="http://schemas.openxmlformats.org/officeDocument/2006/relationships/notesSlide" Target="/ppt/notesSlides/notesSlide7.xml" Id="Rf1198424104644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995532fb24081" /><Relationship Type="http://schemas.openxmlformats.org/officeDocument/2006/relationships/notesSlide" Target="/ppt/notesSlides/notesSlide8.xml" Id="R8e5e9ece8f0745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a249cb15f4878" /><Relationship Type="http://schemas.openxmlformats.org/officeDocument/2006/relationships/notesSlide" Target="/ppt/notesSlides/notesSlide9.xml" Id="R8e07543d647347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f6ea05dd6427c" /><Relationship Type="http://schemas.openxmlformats.org/officeDocument/2006/relationships/notesSlide" Target="/ppt/notesSlides/notesSlide10.xml" Id="Rf8a47cebf5b14c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D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4d8c11de84f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355F6-A38F-4A48-9F47-8DE35231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0B">
              <a:alpha val="9098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0FB09-0341-46F2-84B3-B7DF04D6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LABMATE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5978E-CAB8-4AF3-BC79-CF476E61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61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177"/>
          </a:bodyPr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472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Private research,</a:t>
            </a:r>
          </a:p>
          <a:p xmlns:a="http://schemas.openxmlformats.org/drawingml/2006/main">
            <a:pPr algn="l">
              <a:defRPr sz="472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472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active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3713B-B4B5-4957-9360-CBAC370E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An always-on local agent for unpublished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128CD-95D4-4736-83A9-4867FD4D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9ADF0-8087-4819-9E9C-2AFB76A3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0D0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90D0B"/>
                </a:solidFill>
                <a:latin typeface="DejaVu Sans"/>
                <a:ea typeface="DejaVu Sans"/>
                <a:cs typeface="DejaVu Sans"/>
              </a:rPr>
              <a:t>LOCAL BY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232BF-8B1A-4BFA-8F5C-6348780C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Dell × NVIDIA Hackathon 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7330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D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2618E-66F0-49B6-8B83-54876B0D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8A785-DFC8-4C3E-B7B4-C5F1B001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Cloud AI creates a publication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10EE1-72D2-4946-972F-6FD18B9C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5F77D-99DC-4D56-A9E9-8DB3968A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05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Researchers want help while the work is still sensitive.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F7A3D-7579-43E5-B30D-175AFA10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Draft papers, experimental results, meeting notes, and new findings can contain valuable intellectual property before publication.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E8908-924E-48E8-99FA-9C49125D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6D608-A0D1-4480-98F8-61C966AA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2AFCF-8594-4AB7-958D-05851F56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906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Cloud assistants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C3564-0B1B-4A55-B111-C0A6E7F0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381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Useful, but prompts and files leave the local research environment.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6AF39-5135-408E-B968-56EA5107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52700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05891-0181-43A2-A6CE-AF9916BD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7B1A3-3737-4FCD-B389-DF996CEC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Manual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762A2-CD1F-4865-A3A5-A6BB8C42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381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Private, but slow to repeat whenever evidence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9F9F8-9B2C-482C-922B-58D21ABF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05250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6286D-43B2-4828-817E-E9E1190A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A965F-AAB9-428D-9AE8-8E2E9D92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Disconnected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57A07-A04E-4701-A3B1-F910D582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3810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Search, calculations, meetings, and alerts live in separate workflows.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95AB0-ADD4-4D65-A107-40C453A2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LABMATE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DCC39-AADC-4426-A68E-8A88899B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67032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D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C7FEA4-528A-4637-8C7B-CE3B4993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226A4-CD04-45D6-A7D7-E70CD636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Labmate works where the research lives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91BFC-ADBF-4A24-9631-E0588B05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B04A9-CD22-4554-85E7-FF427874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A researcher speaks naturally. Hermes plans the work. Local tools retrieve and verify. Only a controlled response leaves the machine.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7E93C-55BB-4A07-9995-42E637F6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333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88051-C223-43FC-99C2-F0F01229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B3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39C31-7D58-47FB-ADBF-90001C25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Ask or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2EC5F-32FD-4A3D-92C5-2D61C41C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009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Slack prompt, file change, or scheduled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95AFD-4047-47C0-B3FA-ABA87D75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67000"/>
            <a:ext cx="2333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EF856-4DA6-4480-BEA7-9023F9FF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67000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E88C5-D44C-461F-9A3B-0F90121E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828925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Hermes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52526-F556-43B7-8C1E-D912D3B9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143250"/>
            <a:ext cx="2009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Chooses a skill and invokes Labmate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CFF65-F9B8-4844-8D6A-96D307B8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2333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803BE-C8D0-41E1-858C-7DAC16E2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3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EC45A-F1EB-495A-B9F7-6545B8AE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28925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Local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6F0E5-57AB-44C4-B4A3-B09CC64E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2009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Project files, MongoDB retrieval, deterministic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BD788-708D-4C7F-BA99-B04D930E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67000"/>
            <a:ext cx="2333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C0AFD-BD6E-48B0-B33F-18981074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67000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7AA8D-E25B-4D73-B08D-0D9DF33D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28925"/>
            <a:ext cx="2009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Grounded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C4C6C-CFFA-4044-B91F-A2A2BBF4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143250"/>
            <a:ext cx="2009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Cited answer, claim status, briefing, or alert</a:t>
            </a:r>
          </a:p>
        </p:txBody>
      </p:sp>
      <p:cxnSp>
        <p:nvCxnSpPr>
          <p:cNvPr id="47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00375" y="32861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6B900"/>
            </a:solidFill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29300" y="32861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6B900"/>
            </a:solidFill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58225" y="32861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6B900"/>
            </a:solidFill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390A2-8C6B-45C2-B684-700C24FD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211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The model decides what to do. Deterministic code decides what the data says.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8C30B-E479-49E9-B4A6-4276A496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LABMATE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D62989-4FC4-4A55-A273-86D35531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0692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D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00AB71-27EA-4501-A32D-4CA6C111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05091-8626-415E-B5E5-860E13EE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Local-first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05586-23CF-4247-AC75-54C41FB7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47490-D9DC-4538-A812-0CAB2041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SLACK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98943-69D4-43D9-B769-71BC52A1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304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NEMOCLAW SANDBOX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05FEC-9F68-4677-AD3A-20DF7FEC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049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E3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A7E34B"/>
                </a:solidFill>
                <a:latin typeface="DejaVu Sans Mono"/>
                <a:ea typeface="DejaVu Sans Mono"/>
                <a:cs typeface="DejaVu Sans Mono"/>
              </a:rPr>
              <a:t>LOCAL HOST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4F847-1829-4701-AE74-235B1906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219200"/>
            <a:ext cx="0" cy="449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A9F76-3DD8-4933-92E1-4A4A5937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19200"/>
            <a:ext cx="0" cy="449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3FDF7-4F22-4CC2-B89E-B0BCE8DD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714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194A7-2F3E-4DB1-A780-DAD8D881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B3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DC5B3-1705-4297-8BC8-D40004F2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431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Researcher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B7E8F-514F-4A0F-98F3-2044561B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57500"/>
            <a:ext cx="1390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DMs and mentions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9A663-6C16-4678-81B4-E84724A1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95500"/>
            <a:ext cx="2000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D9FB8-B408-4DE2-8CA4-4F7EF57A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9550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F22EF-499A-402D-9B70-90B56B0C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574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Hermes + Qwen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9A7C2-5F28-4424-9A4E-678520AD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71750"/>
            <a:ext cx="1676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Local model runtime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21263-59F2-4475-978B-481EA300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1511C0-10C5-4130-ADBA-D180EB57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71A89-7EA2-4ABA-92EC-0D4DE8CA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5742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Labmate skills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9E44D-2969-4EBF-AA49-7AABD48E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71750"/>
            <a:ext cx="1866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7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Chooses retrieval, verification, or meeting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9A675-759B-4457-B2B6-886BFFF6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1476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F698ED-914E-492F-994E-061997EF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34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67452-8C79-4843-BAEF-317710DC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5742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RAG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D6533-1DC8-4E53-B413-56B2C9F2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71750"/>
            <a:ext cx="11525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Restricted host bridge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33680F-1366-4229-83D7-9C41F239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1476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3BD94-F0AA-49FE-93F7-222E419E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34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864D35-DFB1-41AF-AB56-BD3A8075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5742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MongoDB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95288C-AB65-4D5D-8711-74F3C9C3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571750"/>
            <a:ext cx="11525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Text index and vectors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679D3F-A6AB-4ADA-BBC2-EF1CD1AE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95750"/>
            <a:ext cx="2000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701354-CB85-4107-92A7-B1B23B0C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9575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4B1B30-ACF8-4FB8-9A7D-5FB4D39B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2576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Watcher + scheduler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2D382D-5994-4A67-81C5-7BCA772A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572000"/>
            <a:ext cx="1676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Always-on triggers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DB8775-0FEE-4D50-9D04-50B7C998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1476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E4C048-417F-43E4-A675-F7425472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B3E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1E04B2-C9BF-4140-B873-853D1E80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2576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11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Read-only files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A0A78D-A553-4E1E-885A-69CC57B5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72000"/>
            <a:ext cx="11525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Originals and extracted text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3253FE-F53B-4F1F-9200-9752048F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1476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6D1085-9031-484C-A2F9-3F607E93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71B1E9-ED37-4400-A145-064863BD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576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3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Writable state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0BCE84-850A-44A9-8ACD-0967CBF5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72000"/>
            <a:ext cx="11525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2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Claims, meetings, reports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ADE0CD-4A5C-4D2B-9720-69D509D4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77FB57-DB36-4E0A-BE51-8000A72B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34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574D8E-82EA-4185-92C1-CB1ED81A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5767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8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Local embeddings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7DF981-BF98-40F3-BC06-6857346B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72000"/>
            <a:ext cx="1485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MiniLM on CPU</a:t>
            </a:r>
          </a:p>
        </p:txBody>
      </p:sp>
      <p:cxnSp>
        <p:nvCxnSpPr>
          <p:cNvPr id="100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2238375" y="2595563"/>
            <a:ext cx="666750" cy="285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C63"/>
            </a:solidFill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905375" y="25955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C63"/>
            </a:solidFill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20000" y="259556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C63"/>
            </a:solidFill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906000" y="259556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C63"/>
            </a:solidFill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29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3905250" y="309562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C63"/>
            </a:solidFill>
            <a:tail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17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5976938" y="3095625"/>
            <a:ext cx="547688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F6C63"/>
            </a:solidFill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17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6524625" y="3095625"/>
            <a:ext cx="1071563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F6C63"/>
            </a:solidFill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1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H="1" flipV="1">
            <a:off x="9167813" y="3095625"/>
            <a:ext cx="595313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F6C63"/>
            </a:solidFill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0F1622-798E-4188-A903-019C9826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67350"/>
            <a:ext cx="838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7E34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A7E34B"/>
                </a:solidFill>
                <a:latin typeface="DejaVu Sans"/>
                <a:ea typeface="DejaVu Sans"/>
                <a:cs typeface="DejaVu Sans"/>
              </a:rPr>
              <a:t>Research content remains inside the local system boundary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EBBC65-CBFA-4459-8BF0-F08E7BD0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LABMATE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F7C9EE-83B6-4BF1-95F7-42764960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6405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D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05DFFE-782B-4366-8BA9-690AABC3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7C810-DFF5-4449-A762-8237C7BD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01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Files become a searchable local knowledge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2E79B-65C7-4F26-A098-98A4C8E6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5C1AA-4AF2-4755-892B-A90EB52C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74E8C-5995-44CE-BB24-292DD3D3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88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6B90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9C4D3-F63F-4889-A999-4DADBC84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Add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E8232-99A8-4D34-B861-E898E74E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1924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PDF, text, Markdown, code, notebooks, CSV, and configuration files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98445-24F2-480B-A24E-59DC0BA7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28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C9175-D1AE-40B4-8C36-E19475C8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88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6B90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93B21-D931-4F31-88BE-6A3D2DE3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Extract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87DB1-3B65-45B4-B061-04586B9E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924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PDF pages become text with page markers; structured data stays intact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52ACD-FA85-4733-83FF-34776DD5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28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E5580-768C-486F-8BA4-6C138C03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43150"/>
            <a:ext cx="188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6B9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98907-4B03-46F0-AF45-9F8504D9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289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Index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F59AD-CD49-43E1-90F7-CA93305D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05150"/>
            <a:ext cx="1924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Local embeddings and full-text search populate MongoDB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86388-315F-4BEC-AC38-94BB6330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28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CEA2B-024F-497F-88D2-35FCA8F0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43150"/>
            <a:ext cx="188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6B90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75F9A-76FC-43EE-8BAE-CD57243E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Retrieve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8B8DA-F4DB-44B9-A2A5-870518D1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1924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Project-scoped vector and lexical results combine through rank fusion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C4FAAE-7D7F-49A6-8418-4F6EA69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28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D7488B-8DDC-461E-97F0-696DFBC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43150"/>
            <a:ext cx="188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B352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366AB-2720-4E94-9923-E7B75E8D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289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Answer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54842-1A46-4A4F-A2E5-436F1920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05150"/>
            <a:ext cx="1924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Hermes receives bounded passages with source paths and page numbers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98137-5DAA-4B8C-8EEB-91A00674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8668EB-8D31-4A3B-A4AD-973B154A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024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Retrieval proposes evidence. It never verifies a scientific claim.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AAE47E-104D-4587-B0A3-CBA37956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4C9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C95D"/>
                </a:solidFill>
                <a:latin typeface="DejaVu Sans"/>
                <a:ea typeface="DejaVu Sans"/>
                <a:cs typeface="DejaVu Sans"/>
              </a:rPr>
              <a:t>Scanned PDFs currently require a separate OCR step.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8022A-CD20-4F78-9AAD-A2411530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LABMATE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B87415-3DA1-43D0-90D8-2543F8B3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513220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D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7294EE-9ADA-4B8D-B554-76BD1D5A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E300E-8837-4542-ABF3-559711D2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Research workflows in one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AA257-3400-4C51-ABA2-43499998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9F103-A6E9-49C7-B306-C25ACEE0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3CE85-9766-4E99-868E-DE46AADD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811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Grounded Q&amp;A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8768A-84F6-41F2-8D06-7D4D7D46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383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Answers use local passages and cite project-relative files and pages.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D0D84-A82C-43F0-83FA-391120D5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E4E5B-76CE-4FF5-8C4A-BAC9A3D0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CEC13-06E8-40A4-817B-16D1603D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3811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Claim verification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351C1-3F3E-4B04-8619-B8BA87EE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383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Pandas operations recompute reported values and record the result.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F2810-CF8F-4FBB-8434-6C1EC68B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032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34350-6C71-4509-8E65-C1F7AFD6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91DCD-1D7C-4E5F-A78E-311824FF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479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Change monitoring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EFD0B-8738-4C9A-85F5-1500735C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0517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SHA-256 checks identify affected claims when evidence changes.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34B6D-9384-4346-9BAF-E40C6998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49FEC-D589-41AF-ACD7-E274C88E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D9C28-F6F6-4C0C-80D2-93C684D8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479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Meeting preparation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77948-1A51-4F77-9B6F-5CB2F166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0517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The local register drives briefings from topics, activity, and open issues.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AB410-EC46-42CC-A2C0-7F5DE121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6717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B08F9-1B1A-4346-B7B7-02E55C3B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6DD85-79B8-4BBD-AA5B-85CEE4AF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148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Scheduled autonomy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03C72-AF0B-4804-903E-B9E163C8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720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A priority queue wakes the model only when useful work is eligible.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182C8C-5E0F-458A-84B8-3FDA313E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84B87-E370-4E43-AFAE-6C16EE0C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FA9509-67B4-4DEB-83DD-734FC01D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148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Slack interface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562406-2AE1-4D0B-B5FE-6EED3129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720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Researchers ask naturally and receive short, controlled responses.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D4AF09-DAB8-4104-A7E4-8D60A08C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3402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7690A6-6A0B-4637-AA98-0173D452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LABMATE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052A3A-39F7-4CE9-805E-9D351277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80134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D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7F6C2A-6CED-49BA-99FF-28E2C4A3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0EC1C-93B3-411F-856E-0AA7FE80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Claim checking combines agent judgment with deterministic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25005-C540-41D8-B048-C125A2EE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A829F-373F-46FB-AF43-6BD5BB5E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59D0F-5D34-43D3-8632-3E3ACE58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E3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A7E34B"/>
                </a:solidFill>
                <a:latin typeface="DejaVu Sans Mono"/>
                <a:ea typeface="DejaVu Sans Mono"/>
                <a:cs typeface="DejaVu Sans Mono"/>
              </a:rPr>
              <a:t>DETERMINISTIC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6FB88-D50A-40DA-AD2E-D9384D9D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107E6-15FD-4861-8246-B26AD291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92405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Find the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B6F9C-2047-4386-B747-0B935E54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050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Identify its type, reported value, and likely source.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0444C-C324-4FEB-9252-48145834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02445-5D60-433A-B496-BE0D16E2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3372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Choose the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41BF3-1AA3-4C80-B865-3ABE72F5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5147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Select a supported operation and its arguments.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09675-3688-4BFB-8CB0-34E8304D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19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47678-E6F4-42A4-95C1-D55AD9F9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34340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Explain the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7D58B-0FD2-47DD-9B43-90F8958B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244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Turn the stored result into a concise recommendation.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3A41C-21DF-4D27-851E-529ED504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E3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A7E34B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F09A9-FAEE-4573-A540-DBE2CA97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2405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Inspect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CE204-E608-497E-A4B3-E6D1E9B8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Validate file paths, columns, and bounded source 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21839-2FC2-4109-94EF-94CAAA21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E3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A7E34B"/>
                </a:solidFill>
                <a:latin typeface="DejaVu Sans Mono"/>
                <a:ea typeface="DejaVu Sans Mono"/>
                <a:cs typeface="DejaVu Sans Mono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A6966-53C0-4E33-9F05-0C39BE23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3372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Compute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60D97-E8CF-47D2-BF83-ACE0350B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147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Run csv_stat, unique_count, delta, or text_search.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38478-1B0F-4409-953D-0435AC4B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719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E3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A7E34B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CA38C-A0F0-4DE2-9EAA-0CC4182C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4340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F6EEDD-B9AF-4DD3-8EFB-502A210C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244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Store status, evidence files, confidence, and audit history.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2E440-677C-4F5B-850E-881F614C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287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6F3B8F-879D-4C5D-B263-B65F0AE3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53100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7E34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FC193-6CF7-4D54-81EF-6B7590CB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800725"/>
            <a:ext cx="1323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0D0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90D0B"/>
                </a:solidFill>
                <a:latin typeface="DejaVu Sans"/>
                <a:ea typeface="DejaVu Sans"/>
                <a:cs typeface="DejaVu Sans"/>
              </a:rPr>
              <a:t>SUPPORTED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DAD664-8019-4AD6-93A8-8BA04A47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753100"/>
            <a:ext cx="1581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B6462-9075-4C13-8795-CF156AEE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8007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CONFLICTING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A88AFF-B0C0-41EB-9BC4-DED21BEB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7531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4364ED-7AFF-4D6A-8E6B-C03AC586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8007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0D0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90D0B"/>
                </a:solidFill>
                <a:latin typeface="DejaVu Sans"/>
                <a:ea typeface="DejaVu Sans"/>
                <a:cs typeface="DejaVu Sans"/>
              </a:rPr>
              <a:t>MISSING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B9A5A7-7D99-4DE7-9BD6-0B6F10EC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7531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F6C6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5A3037-9F9E-462B-8300-1FDBD720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800725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UNVERIFIABLE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E253DC-AC9F-4955-B163-5ADA2B47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LABMATE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FC863E-9964-454E-B208-0C34E177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36019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D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4C10FE-7BDB-4FFD-9156-EF4EFCC1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6805B-3915-43AA-AF9F-B4EB44C9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23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Always-on work without constant model calls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EB826-344B-4348-BC7E-AEDD55BD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B8092-CD7C-4FA4-B90D-C8091E91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Two lightweight loops decide when the agent should wake.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3646D-4389-48DF-B81B-7FF33892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390CC-2481-4461-9EFE-BDB19936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B3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E27C4-5CD5-4583-903F-A297DF09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764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File watcher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4C681-AE89-4526-9867-0B0CEAE9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9080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Hashes project originals and waits for writes to settle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4F1CF-DC51-415C-9AF9-D190F80D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E5A0B-DF13-4545-9384-BA9CC864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47F4B-B0DB-400F-BC0D-E9BAE9FD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719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Scheduler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37837-8C12-41B3-85D1-71411B88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8625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Builds a deterministic backlog and applies rate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CDE56-3F65-430D-815D-470F17B1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B1E75-99B4-493D-9587-70FA4A67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70BFE-0133-4104-B4BA-81A96EE1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1467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Hermes one-shot turn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B724E-5E71-4102-BDA0-91D42A01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Loads only the relevant skills and project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D94C7-A044-40E5-B5F3-55030893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713"/>
          </a:solidFill>
          <a:ln xmlns:a="http://schemas.openxmlformats.org/drawingml/2006/main" w="9525">
            <a:solidFill>
              <a:srgbClr val="2B352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62D04-7C0B-4EF9-8276-CE99E4D2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E34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F8DBE-F614-471F-8DE2-93BDFFC6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1467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Focused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2B176-3E8C-4AE2-B7E7-564A6A12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29000"/>
            <a:ext cx="2533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Reverify affected claims, prepare a brief, or generate a digest</a:t>
            </a:r>
          </a:p>
        </p:txBody>
      </p: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48125" y="2686050"/>
            <a:ext cx="714375" cy="885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63B3ED"/>
            </a:solidFill>
            <a:tailEnd type="triangle" w="med" len="med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4048125" y="3571875"/>
            <a:ext cx="714375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F4C95D"/>
            </a:solidFill>
            <a:tailEnd type="triangle" w="med" len="med"/>
          </a:ln>
        </p:spPr>
      </p:cxnSp>
      <p:cxnSp>
        <p:nvCxnSpPr>
          <p:cNvPr id="53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905750" y="3571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6B900"/>
            </a:solidFill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5EDC4-EE4C-46E7-9555-E7A8A4CE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6250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Priority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50D3C-5E1F-4F27-88A2-5AA1A73F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625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3F6F2"/>
                </a:solidFill>
                <a:latin typeface="DejaVu Sans Mono"/>
                <a:ea typeface="DejaVu Sans Mono"/>
                <a:cs typeface="DejaVu Sans Mono"/>
              </a:rPr>
              <a:t>Changed evidence  100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B216F-E8F0-4087-976B-C21B1F1E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0673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3F6F2"/>
                </a:solidFill>
                <a:latin typeface="DejaVu Sans Mono"/>
                <a:ea typeface="DejaVu Sans Mono"/>
                <a:cs typeface="DejaVu Sans Mono"/>
              </a:rPr>
              <a:t>Meeting brief  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560646-48CA-47F4-B06B-8D31A1EF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3721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2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F3F6F2"/>
                </a:solidFill>
                <a:latin typeface="DejaVu Sans Mono"/>
                <a:ea typeface="DejaVu Sans Mono"/>
                <a:cs typeface="DejaVu Sans Mono"/>
              </a:rPr>
              <a:t>New claim  60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D7DE7B-A6F2-4724-A289-32FD5CC0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006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7E3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A7E34B"/>
                </a:solidFill>
                <a:latin typeface="DejaVu Sans"/>
                <a:ea typeface="DejaVu Sans"/>
                <a:cs typeface="DejaVu Sans"/>
              </a:rPr>
              <a:t>A quiet tick consumes no model turn.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26F087-5F8A-4E1B-8AA6-B2D20359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LABMATE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F73E5C-3095-4371-A483-9A7540BF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33273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D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847C7D-C379-4E00-BDB8-7770F38D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62E47-E269-4E62-82F3-EBC765F6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A clear boundary for sensitive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45A3E-41CE-4D5D-BCCF-4C9032E5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92D7F-B902-4F5D-A3D2-173EE327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E3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A7E34B"/>
                </a:solidFill>
                <a:latin typeface="DejaVu Sans Mono"/>
                <a:ea typeface="DejaVu Sans Mono"/>
                <a:cs typeface="DejaVu Sans Mono"/>
              </a:rPr>
              <a:t>STAYS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92061-B86F-4E8D-9740-2CC289CF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CAN LEAVE THE BOX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BF8BD-5F00-4B40-9964-45C946BD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7E34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A7E34B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B38EB-D718-4B1A-AD88-70822736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716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Original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9D032-4236-4251-9FED-2BA10957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7E34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A7E34B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42A23-7910-452B-A88D-CFF38A97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622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Extracted passages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B29F8-42F0-4606-BC65-2196A722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7E34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A7E34B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34FFA-C10A-4AD4-BB66-97448F33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527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Embedding vectors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4C6D3-6330-4BAF-ABFA-9CC35DF8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7E34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A7E34B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FCFC2-E1C8-4CB4-9C3C-26F6E213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433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Claims and computed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C0169-507D-4EC8-8031-800E3344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7E34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A7E34B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E9707-6475-4350-9742-22D2FB31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Meeting briefs and full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DC467-F2CA-435C-B00E-EA05D8EB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02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C95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4C95D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89050-3E1E-4671-AD7C-45A26D8A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7167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116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Researcher prompts sent through Slack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6A675-D98F-48AC-914C-DC5FD092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670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C95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4C95D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DBB07-1086-40AA-A9C6-5E47242A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3842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93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Short cited answers when permitted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A82FA-1BAA-4F99-B9E0-F7B78904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C95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4C95D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C61FD-BBCA-41E8-A836-166C8494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0517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Metadata-only alerts and counts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EBAA35-B74B-45DD-A2F6-F80A03A1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00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C95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4C95D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2AF6E-280E-4C75-A977-588A8C35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7192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Local report paths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A9871F-B768-4616-9A0B-037E9F2F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FE965-0CC4-426D-9D22-8BAB16EC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A1D12"/>
          </a:solidFill>
          <a:ln xmlns:a="http://schemas.openxmlformats.org/drawingml/2006/main" w="9525">
            <a:solidFill>
              <a:srgbClr val="6E522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BFA9E9-478E-412C-94CF-52BB36E8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97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93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C95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4C95D"/>
                </a:solidFill>
                <a:latin typeface="DejaVu Sans"/>
                <a:ea typeface="DejaVu Sans"/>
                <a:cs typeface="DejaVu Sans"/>
              </a:rPr>
              <a:t>Slack attachments already pass through Slack’s cloud. Sensitive source files should enter through a local folder or local interface.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0E914-482C-4023-809F-773073F6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LABMATE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A05014-C509-40DF-98E8-09596EB8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04227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D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93ABF0-8041-4ABF-9691-F3A4E0E3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4A7A0-67E3-4CE2-8E93-99C5E673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Five minutes with Labmate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5BD53-DFEF-4E34-A5DA-087B7667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8751D-0DAC-4D07-866E-22EF7394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817EB-A4DF-4854-8B68-C52D5563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Add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42A6F-7E89-460C-810D-2E9292DB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57475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Place a manuscript and results file in a local project.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9CA8A-7DEB-46C9-B04B-2FBA588B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04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6B90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B6D61-8411-4ECC-A566-7365C134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145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3E3BF-F391-4FBB-BC30-BCDA2116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1526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4829B-3A7F-47DD-A1EF-D99EDF1D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57475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7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Request the reported improvement and receive a cited answer.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844C9-EC66-4E16-BB96-26E4AAA0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905000"/>
            <a:ext cx="204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6B9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A545C-CE19-427B-B980-D40DDE2D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145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BCDA6-5324-4BE2-A8CE-DECAC712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C51CA-473D-4000-BAE1-5EDD583E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57475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Labmate recomputes the number and records support.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8450B-87D2-4325-870E-3FA8C349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05000"/>
            <a:ext cx="204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6B90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AC099-B8DC-4226-8B7F-D543D4A1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7145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FCE8A-F27B-4E62-BBC2-7ECFF783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1526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Change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E45CD-37D8-40DA-B6D8-CAD8DFD5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57475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Replace the results file with updated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4C225-3007-4E96-A2D9-B39602F5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905000"/>
            <a:ext cx="204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6B90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1ABA7-0774-472F-A290-5593DCE4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7145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76B900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F17E32-0376-4073-8D63-21BA5ADC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526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3F24E-9B7C-48C6-B2F2-7E3CC7A1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57475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The watcher rechecks the affected claim and prepares the next meeting brief.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0D05F9-E0A6-4E64-9530-0A3818DF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52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317B8-E52D-416E-830B-3D19E9D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E34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>
                <a:solidFill>
                  <a:srgbClr val="A7E34B"/>
                </a:solidFill>
                <a:latin typeface="DejaVu Sans Mono"/>
                <a:ea typeface="DejaVu Sans Mono"/>
                <a:cs typeface="DejaVu Sans Mono"/>
              </a:rPr>
              <a:t>Built today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585CE-494D-402A-A846-BBCAB4E6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6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3F6F2"/>
                </a:solidFill>
                <a:latin typeface="DejaVu Sans"/>
                <a:ea typeface="DejaVu Sans"/>
                <a:cs typeface="DejaVu Sans"/>
              </a:rPr>
              <a:t>Local RAG, deterministic checks, watcher, scheduler, meeting briefs, and Slack runtime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5656B-92FB-4624-A0CB-7275E5B8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Next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D050C5-6397-40AB-BCCF-56D46F45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62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46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5A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AB5AC"/>
                </a:solidFill>
                <a:latin typeface="DejaVu Sans"/>
                <a:ea typeface="DejaVu Sans"/>
                <a:cs typeface="DejaVu Sans"/>
              </a:rPr>
              <a:t>Finish multi-skill Slack routing, add a local upload interface, and rehearse the complete alert flow.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64831-D303-4E19-AE82-19602A1C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LABMATE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E82EF-84BB-43E0-B60A-4B2A4404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5F6C63"/>
                </a:solidFill>
                <a:latin typeface="DejaVu Sans Mono"/>
                <a:ea typeface="DejaVu Sans Mono"/>
                <a:cs typeface="DejaVu San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66705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2026-09-12T23:10:07.4590000Z</dcterms:created>
  <dcterms:modified xsi:type="dcterms:W3CDTF">2026-09-12T23:10:07.4600000Z</dcterms:modified>
</coreProperties>
</file>